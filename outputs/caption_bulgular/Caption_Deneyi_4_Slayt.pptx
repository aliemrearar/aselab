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2e838435034f3c" /><Relationship Type="http://schemas.openxmlformats.org/officeDocument/2006/relationships/extended-properties" Target="/docProps/app.xml" Id="Racf9019318594a15" /><Relationship Type="http://schemas.openxmlformats.org/officeDocument/2006/relationships/officeDocument" Target="/ppt/presentation.xml" Id="Re76254d8d4dd4f35" /></Relationships>
</file>

<file path=ppt/presentation.xml><?xml version="1.0" encoding="utf-8"?>
<p:presentation xmlns:p="http://schemas.openxmlformats.org/presentationml/2006/main">
  <p:sldMasterIdLst>
    <p:sldMasterId xmlns:r="http://schemas.openxmlformats.org/officeDocument/2006/relationships" id="2147483648" r:id="R02d2a7ae67ee4ba5"/>
  </p:sldMasterIdLst>
  <p:notesMasterIdLst>
    <p:notesMasterId xmlns:r="http://schemas.openxmlformats.org/officeDocument/2006/relationships" r:id="R5efb7af0351f4fba"/>
  </p:notesMasterIdLst>
  <p:sldIdLst>
    <p:sldId xmlns:r="http://schemas.openxmlformats.org/officeDocument/2006/relationships" id="256" r:id="R0628f30bd1d546f1"/>
    <p:sldId xmlns:r="http://schemas.openxmlformats.org/officeDocument/2006/relationships" id="257" r:id="R793be8e2849f4710"/>
    <p:sldId xmlns:r="http://schemas.openxmlformats.org/officeDocument/2006/relationships" id="258" r:id="R695dc6cfe22f4175"/>
    <p:sldId xmlns:r="http://schemas.openxmlformats.org/officeDocument/2006/relationships" id="259" r:id="R74189282702943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e914e9d6924786" /><Relationship Type="http://schemas.openxmlformats.org/officeDocument/2006/relationships/slideMaster" Target="/ppt/slideMasters/slideMaster1.xml" Id="R02d2a7ae67ee4ba5" /><Relationship Type="http://schemas.openxmlformats.org/officeDocument/2006/relationships/notesMaster" Target="/ppt/notesMasters/notesMaster1.xml" Id="R5efb7af0351f4fba" /><Relationship Type="http://schemas.openxmlformats.org/officeDocument/2006/relationships/presProps" Target="/ppt/presProps.xml" Id="R53702b6cadc54be4" /><Relationship Type="http://schemas.openxmlformats.org/officeDocument/2006/relationships/tableStyles" Target="/ppt/tableStyles.xml" Id="R77c9f0aa000e45a3" /><Relationship Type="http://schemas.openxmlformats.org/officeDocument/2006/relationships/slide" Target="/ppt/slides/slide1.xml" Id="R0628f30bd1d546f1" /><Relationship Type="http://schemas.openxmlformats.org/officeDocument/2006/relationships/slide" Target="/ppt/slides/slide2.xml" Id="R793be8e2849f4710" /><Relationship Type="http://schemas.openxmlformats.org/officeDocument/2006/relationships/slide" Target="/ppt/slides/slide3.xml" Id="R695dc6cfe22f4175" /><Relationship Type="http://schemas.openxmlformats.org/officeDocument/2006/relationships/slide" Target="/ppt/slides/slide4.xml" Id="R74189282702943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ee3b38ef9543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bef6a510514144" /><Relationship Type="http://schemas.openxmlformats.org/officeDocument/2006/relationships/notesMaster" Target="/ppt/notesMasters/notesMaster1.xml" Id="Rcb225128660d44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c21663c46b49b7" /><Relationship Type="http://schemas.openxmlformats.org/officeDocument/2006/relationships/notesMaster" Target="/ppt/notesMasters/notesMaster1.xml" Id="R9e70f56e25154b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8b641f38dc48e6" /><Relationship Type="http://schemas.openxmlformats.org/officeDocument/2006/relationships/notesMaster" Target="/ppt/notesMasters/notesMaster1.xml" Id="Rcb1676a73a0f4c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f0d83b45f24694" /><Relationship Type="http://schemas.openxmlformats.org/officeDocument/2006/relationships/notesMaster" Target="/ppt/notesMasters/notesMaster1.xml" Id="Re3d705b3a37c43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çalışmada Gemini mevcut caption’ı yeniden yazdı; görseli görmedi. 150 görselin her biri için 6 profil, toplam 900 Gemini varyantı var. Sekiz model metin testinde; eşleşen görsel encoder’ı bulunan altı model görsel testinde yer aldı.</a:t>
            </a:r>
          </a:p>
          <a:p xmlns:a="http://schemas.openxmlformats.org/drawingml/2006/main">
            <a:r>
              <a:t>Hoca sorarsa: Evet, gerçek görsel vektörleriyle karşılaştırdık. Her fotoğraf ilgili modelin vision encoder’ından, tarif aynı modelin text encoder’ından geçti. Normalize edilmiş vektörlerin cosine benzerliği hesaplandı. Aynı kategorideki 50 görsel sıralandı ve kaynak dosyanın sırası ölçüldü. İlk sıra Recall@1; ilk beş Recall@5.</a:t>
            </a:r>
          </a:p>
          <a:p xmlns:a="http://schemas.openxmlformats.org/drawingml/2006/main">
            <a:r>
              <a:t>BGE-M3 ve DeBERTa yalnız metin testinde: hazır eşleşen vision tower yok. Modeller farklı vision tower’lar kullandığı için görsel sonuçları yalnız text encoder kalitesi olarak yorumlamıyoruz.</a:t>
            </a:r>
          </a:p>
          <a:p xmlns:a="http://schemas.openxmlformats.org/drawingml/2006/main">
            <a:r>
              <a:t>Bu aynı kaynak fotoğrafı bulma testidir; başka kamerada aynı kimliği bulma (gerçek ReID) testi değildir.</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Fotoğraftaki özelliklerin doğru anlatılıp anlatılmadığını ayrıca doğrulamadık; bunlar mevcut caption’dan üretilen varyantlar. Slaytta orijinalin yalnız işaretlenmiş bir alıntısı gösteriliyor.</a:t>
            </a:r>
          </a:p>
          <a:p xmlns:a="http://schemas.openxmlformats.org/drawingml/2006/main">
            <a:r>
              <a:t>ORİJİNAL:</a:t>
            </a:r>
          </a:p>
          <a:p xmlns:a="http://schemas.openxmlformats.org/drawingml/2006/main">
            <a:r>
              <a:t>Male-presenting middle-aged adult, with an oval facial shape, balanced thirds, and average facial depth; jawline with moderate definition, chin rounded and moderate in projection with a slight vertical height. Hairline M-shaped with temporal recession; eyebrows medium in thickness, soft-arched with a low peak, moderate spacing between the brows, and moderate brow-to-eye vertical distance. Eyes almond-shaped, moderate palpebral fissure length with a horizontal slant, average distance between inner corners relative to eye width, upper-lid crease double and moderate in height, moderate lid exposure, and average orbital depth. Nasal root moderate in width and depth, dorsum straight, bridge moderate in width, tip rounded with moderate projection and rotation, alar width moderate relative to intercanthal distance, alar flare moderate, and nostrils partially visible. Mouth width moderate relative to interpuptillary distance, upper-to-lower lip fullness ratio balanced, vermilion fullness moderate, cupid's bow defined, corners level, philtrum moderate in length and width with defined ridges, and visible upper dental alignment at rest. Ears average in size, moderate protrusion, helix rolled, antihelix defined, lobes free, and positioned level with the eye-nose line; persistent marks not discernible; captured in a medium close-up with a smiling expression, head slightly turned and tilted, indoor directional lighting against a blue gradient backdrop, and soft focus throughout.</a:t>
            </a:r>
          </a:p>
          <a:p xmlns:a="http://schemas.openxmlformats.org/drawingml/2006/main">
            <a:r>
              <a:t/>
            </a:r>
          </a:p>
          <a:p xmlns:a="http://schemas.openxmlformats.org/drawingml/2006/main">
            <a:r>
              <a:t>ALTI VARYANT:</a:t>
            </a:r>
          </a:p>
          <a:p xmlns:a="http://schemas.openxmlformats.org/drawingml/2006/main">
            <a:r>
              <a:t>llm_brief</a:t>
            </a:r>
          </a:p>
          <a:p xmlns:a="http://schemas.openxmlformats.org/drawingml/2006/main">
            <a:r>
              <a:t>Middle-aged male with an oval face, M-shaped hairline, and almond-shaped eyes.</a:t>
            </a:r>
          </a:p>
          <a:p xmlns:a="http://schemas.openxmlformats.org/drawingml/2006/main">
            <a:r>
              <a:t/>
            </a:r>
          </a:p>
          <a:p xmlns:a="http://schemas.openxmlformats.org/drawingml/2006/main">
            <a:r>
              <a:t>llm_balanced</a:t>
            </a:r>
          </a:p>
          <a:p xmlns:a="http://schemas.openxmlformats.org/drawingml/2006/main">
            <a:r>
              <a:t>Middle-aged male with an oval face, M-shaped hairline with temporal recession, almond-shaped eyes, and a straight-bridged nose with a rounded tip.</a:t>
            </a:r>
          </a:p>
          <a:p xmlns:a="http://schemas.openxmlformats.org/drawingml/2006/main">
            <a:r>
              <a:t/>
            </a:r>
          </a:p>
          <a:p xmlns:a="http://schemas.openxmlformats.org/drawingml/2006/main">
            <a:r>
              <a:t>llm_detailed</a:t>
            </a:r>
          </a:p>
          <a:p xmlns:a="http://schemas.openxmlformats.org/drawingml/2006/main">
            <a:r>
              <a:t>Male-presenting middle-aged adult with oval facial shape, balanced thirds, and average facial depth. Jawline is moderately defined with a rounded, moderately projecting chin. Hairline is M-shaped with temporal recession. Eyebrows are medium-thick, soft-arched with low peaks. Eyes are almond-shaped with horizontal slant and double upper-lid crease. Nasal dorsum is straight, bridge is moderate, and tip is rounded with moderate projection. Mouth has balanced lip fullness, defined cupid's bow, and visible upper dental alignment. Ears are average size with rolled helix, defined antihelix, and free lobes.</a:t>
            </a:r>
          </a:p>
          <a:p xmlns:a="http://schemas.openxmlformats.org/drawingml/2006/main">
            <a:r>
              <a:t/>
            </a:r>
          </a:p>
          <a:p xmlns:a="http://schemas.openxmlformats.org/drawingml/2006/main">
            <a:r>
              <a:t>llm_human_description</a:t>
            </a:r>
          </a:p>
          <a:p xmlns:a="http://schemas.openxmlformats.org/drawingml/2006/main">
            <a:r>
              <a:t>This is a middle-aged man with an oval-shaped face. He has a receding M-shaped hairline, almond-shaped eyes, and medium-thick, softly arched eyebrows. His nose is straight-bridged with a rounded tip, and he has a defined, balanced smile showing his upper teeth.</a:t>
            </a:r>
          </a:p>
          <a:p xmlns:a="http://schemas.openxmlformats.org/drawingml/2006/main">
            <a:r>
              <a:t/>
            </a:r>
          </a:p>
          <a:p xmlns:a="http://schemas.openxmlformats.org/drawingml/2006/main">
            <a:r>
              <a:t>llm_attribute_list</a:t>
            </a:r>
          </a:p>
          <a:p xmlns:a="http://schemas.openxmlformats.org/drawingml/2006/main">
            <a:r>
              <a:t>Face shape oval; jawline moderately defined; chin rounded, moderate projection, slight vertical height; hairline M-shaped, temporal recession; eyebrows medium thickness, soft-arched, low peak, moderate spacing, moderate brow-to-eye distance; eyes almond-shaped, moderate palpebral fissure length, horizontal slant, average inner corner distance, double moderate upper-lid crease, moderate lid exposure, average orbital depth; nasal root moderate width/depth; nasal dorsum straight; nasal bridge moderate width; nasal tip rounded, moderate projection/rotation; alar width moderate; alar flare moderate; nostrils partially visible; mouth width moderate; upper-to-lower lip ratio balanced; vermilion fullness moderate; cupid's bow defined; corners level; philtrum moderate length/width, defined ridges; upper dental alignment visible; ears average size, moderate protrusion, helix rolled, antihelix defined, lobes free, aligned with eye-nose line.</a:t>
            </a:r>
          </a:p>
          <a:p xmlns:a="http://schemas.openxmlformats.org/drawingml/2006/main">
            <a:r>
              <a:t/>
            </a:r>
          </a:p>
          <a:p xmlns:a="http://schemas.openxmlformats.org/drawingml/2006/main">
            <a:r>
              <a:t>llm_distinctive_first</a:t>
            </a:r>
          </a:p>
          <a:p xmlns:a="http://schemas.openxmlformats.org/drawingml/2006/main">
            <a:r>
              <a:t>M-shaped hairline with temporal recession on an oval-shaped face featuring a moderate, rounded chin and a moderately defined jawline. The eyes are almond-shaped with a horizontal slant, double upper-lid creases of moderate height, and moderate lid exposure, set beneath soft-arched, medium-thickness eyebrows with a low peak. The nose has a straight dorsum, rounded tip with moderate projection, and partially visible nostrils. The mouth features a defined cupid's bow, balanced lip fullness, and visible upper dental alignment. Ears are of average size and protrusion with free lobes, aligned with the eye-nose line.</a:t>
            </a:r>
          </a:p>
          <a:p xmlns:a="http://schemas.openxmlformats.org/drawingml/2006/main">
            <a:r>
              <a:t/>
            </a:r>
          </a:p>
          <a:p xmlns:a="http://schemas.openxmlformats.org/drawingml/2006/main">
            <a:r>
              <a:t>control_synonym</a:t>
            </a:r>
          </a:p>
          <a:p xmlns:a="http://schemas.openxmlformats.org/drawingml/2006/main">
            <a:r>
              <a:t>Middle-aged male with an oval face, M-shaped hairline with temporal recession, almond-shaped eyes, and a straight-bridged nose with a round tip.</a:t>
            </a:r>
          </a:p>
          <a:p xmlns:a="http://schemas.openxmlformats.org/drawingml/2006/main">
            <a:r>
              <a:t/>
            </a:r>
          </a:p>
          <a:p xmlns:a="http://schemas.openxmlformats.org/drawingml/2006/main">
            <a:r>
              <a:t>control_one_fact</a:t>
            </a:r>
          </a:p>
          <a:p xmlns:a="http://schemas.openxmlformats.org/drawingml/2006/main">
            <a:r>
              <a:t>Middle-aged male with an angular face, M-shaped hairline with temporal recession, almond-shaped eyes, and a straight-bridged nose with a rounded tip.</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tablo full150 koşusuna aittir. 170623.jpg için CLIP L/14: orijinal görsel sırası 6, kısa 6, dengeli 4, gündelik 6. Metin–metin cosine sırasıyla 0.8085154, 0.8243301 ve 0.7742162. Farklı yüzler 170623.jpg ile 189457.jpg orijinal caption cosine 0.8932774. Yani farklı bir kaynak metin bile kendi kısa varyantından daha yüksek ham cosine alabiliyor.</a:t>
            </a:r>
          </a:p>
          <a:p xmlns:a="http://schemas.openxmlformats.org/drawingml/2006/main">
            <a:r>
              <a:t>Cosine’ın yüksek olması kimliklerin aynı olduğunu veya doğru görselin bulunacağını kanıtlamaz. Caption’larda ortak yüz özellikleri ve benzer şema, encoder’ın vektör uzayı yapısı ve uzun metnin kesilmesi olası etkenlerdir; bu test bunların nedensel katkısını ayrı ayrı belirlemiyor. Ham cosine değerleriyle farklı modelleri en iyi/en kötü diye sıralamayız.</a:t>
            </a:r>
          </a:p>
          <a:p xmlns:a="http://schemas.openxmlformats.org/drawingml/2006/main">
            <a:r>
              <a:t>Bu tek örnekte gündelik tarif sıralamayı iyileştirmedi. Son slayttaki iyileşme 25 örneğin toplamıdır; her tekil fotoğrafın iyileşmesi beklenmez.</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Sunumda söyle: Yüzlerde uzun ve teknik tariften daha seçilmiş gündelik anlatıma geçmek bazı modellerde doğru fotoğrafı ayırt etmeyi belirgin artırdı. CLIP L/14 aynı 25 yüz test örneğinde 1 doğru ilk sıra eşleşmeden 11’e çıktı; EVA02 2’den 16’ya çıktı. İnsan SigLIP2’de toplam başarı aynı kaldı. Taşıt SigLIP2’de 7’den 14’e çıktı. Bunlar bütün model/kategori kombinasyonlarını temsil eden örneklerdir; evrensel kazanç iddiası değildir. Örneğin yüz Jina-CLIP-v2 9/25’ten 8/25’e indi.</a:t>
            </a:r>
          </a:p>
          <a:p xmlns:a="http://schemas.openxmlformats.org/drawingml/2006/main">
            <a:r>
              <a:t>Seçim mantığı: her kategoride 25 geliştirme sorgusu ve 25 ayrı tutulan test sorgusu var. Her model için profil geliştirme sorgularında seçildi; orijinal ile fark test sorgularında ölçüldü. Galeri hâlâ kategori başına 50 görsel. Bu bağımsız dış veri testi ya da kimlik bazlı ayrım değildir.</a:t>
            </a:r>
          </a:p>
          <a:p xmlns:a="http://schemas.openxmlformats.org/drawingml/2006/main">
            <a:r>
              <a:t>Neden iyileşti? Uzun CLIP caption’ları token sınırında kesiliyor. Yüzlerde CLIP L/14 orijinallerinin tümü kesilmiş; kısa ve dengeli olanların hiçbiri kesilmemiş. İçeriğin seçimi, sırası, dil biçimi ve kesilme birlikte değişti: iyileşmeyi yalnız kısalığa bağlayamayız. Bazı uzun bağlamlı modellerde de kazanım olduğundan tek açıklama kesilme değildir.</a:t>
            </a:r>
          </a:p>
          <a:p xmlns:a="http://schemas.openxmlformats.org/drawingml/2006/main">
            <a:r>
              <a:t>Ayırt edicilik var mı? Görsel testinde diğer 49 aday arasından kaynak dosyayı ilk sıraya getirme sayısı artınca bu görevde ayırt etme artmıştır. Bu, kaynak metnine yüksek cosine’dan daha anlamlı kanıttır. Ancak gerçek kimlik ReID için aynı kimliğin farklı görüntülerini içeren etiketli galeri ve uygun değerlendirme gerekir.</a:t>
            </a:r>
          </a:p>
          <a:p xmlns:a="http://schemas.openxmlformats.org/drawingml/2006/main">
            <a:r>
              <a:t>Sınırlılıklar: küçük ve sabit galeri; caption’ın görsel doğruluğu kontrol edilmedi; Gemini görseli görmedi. Koşuların dört modeli torch2.10, kalan dördü torch2.6 CPU float32; Jina/AltCLIP tokenizer uyarısı ayrıca izole edilmedi. Model üstünlüğünü yalnız text tower’a bağlamayın.</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f4e9e024d043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20c4cef46c48ab" /><Relationship Type="http://schemas.openxmlformats.org/officeDocument/2006/relationships/slideLayout" Target="/ppt/slideLayouts/slideLayout1.xml" Id="R175818c3ba304b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5818c3ba304b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40f31a7ffe40af" /><Relationship Type="http://schemas.openxmlformats.org/officeDocument/2006/relationships/notesSlide" Target="/ppt/notesSlides/notesSlide1.xml" Id="R2a74af45b54d4e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d7ff6eab944cca" /><Relationship Type="http://schemas.openxmlformats.org/officeDocument/2006/relationships/image" Target="/ppt/media/image.jpeg" Id="R5c5a0fcd403f49bf" /><Relationship Type="http://schemas.openxmlformats.org/officeDocument/2006/relationships/notesSlide" Target="/ppt/notesSlides/notesSlide2.xml" Id="R4212fe6c0ba849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d3a7d1d3844103" /><Relationship Type="http://schemas.openxmlformats.org/officeDocument/2006/relationships/image" Target="/ppt/media/image2.jpeg" Id="R2be97ad0f4494c9d" /><Relationship Type="http://schemas.openxmlformats.org/officeDocument/2006/relationships/notesSlide" Target="/ppt/notesSlides/notesSlide3.xml" Id="Rea324d9512894c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40cf513ca14a92" /><Relationship Type="http://schemas.openxmlformats.org/officeDocument/2006/relationships/notesSlide" Target="/ppt/notesSlides/notesSlide4.xml" Id="R6bcadedeba864d1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B75F66-8DE7-4BCB-A3FE-E07813CF814B}"/>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Farklı caption’lar doğru görseli bulmayı etkiliyor mu?</a:t>
            </a:r>
          </a:p>
        </p:txBody>
      </p:sp>
      <p:sp>
        <p:nvSpPr>
          <p:cNvPr id="2" name="">
            <a:extLst xmlns:a="http://schemas.openxmlformats.org/drawingml/2006/main">
              <a:ext uri="{FF2B5EF4-FFF2-40B4-BE49-F238E27FC236}">
                <a16:creationId xmlns:a16="http://schemas.microsoft.com/office/drawing/2014/main" id="{F182D44B-37E3-431C-8CE8-B05A5BA3E80F}"/>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Amaç: metni kısaltmanın ve yeniden yazmanın etkisini ölçmek.</a:t>
            </a:r>
          </a:p>
        </p:txBody>
      </p:sp>
      <p:sp>
        <p:nvSpPr>
          <p:cNvPr id="3" name="">
            <a:extLst xmlns:a="http://schemas.openxmlformats.org/drawingml/2006/main">
              <a:ext uri="{FF2B5EF4-FFF2-40B4-BE49-F238E27FC236}">
                <a16:creationId xmlns:a16="http://schemas.microsoft.com/office/drawing/2014/main" id="{7635283A-E64E-47E9-B63D-6B41D4D28538}"/>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F249F7A6-6167-4450-928D-F1EC89C84FD6}"/>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313E5107-D37B-4AB8-B85B-91899E10AE02}"/>
              </a:ext>
            </a:extLst>
          </p:cNvPr>
          <p:cNvSpPr>
            <a:spLocks xmlns:a="http://schemas.openxmlformats.org/drawingml/2006/main" noGrp="1"/>
          </p:cNvSpPr>
          <p:nvPr/>
        </p:nvSpPr>
        <p:spPr>
          <a:xfrm xmlns:a="http://schemas.openxmlformats.org/drawingml/2006/main">
            <a:off x="552450" y="17430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7A"/>
                </a:solidFill>
                <a:latin typeface="Arial"/>
                <a:ea typeface="Arial"/>
                <a:cs typeface="Arial"/>
              </a:defRPr>
            </a:pPr>
            <a:r>
              <a:rPr sz="2550" b="1">
                <a:solidFill>
                  <a:srgbClr val="007F7A"/>
                </a:solidFill>
                <a:latin typeface="Arial"/>
                <a:ea typeface="Arial"/>
                <a:cs typeface="Arial"/>
              </a:rPr>
              <a:t>150 görsel</a:t>
            </a:r>
          </a:p>
        </p:txBody>
      </p:sp>
      <p:sp>
        <p:nvSpPr>
          <p:cNvPr id="6" name="">
            <a:extLst xmlns:a="http://schemas.openxmlformats.org/drawingml/2006/main">
              <a:ext uri="{FF2B5EF4-FFF2-40B4-BE49-F238E27FC236}">
                <a16:creationId xmlns:a16="http://schemas.microsoft.com/office/drawing/2014/main" id="{643D8B75-9802-431C-AE4E-DFD205742FAC}"/>
              </a:ext>
            </a:extLst>
          </p:cNvPr>
          <p:cNvSpPr>
            <a:spLocks xmlns:a="http://schemas.openxmlformats.org/drawingml/2006/main" noGrp="1"/>
          </p:cNvSpPr>
          <p:nvPr/>
        </p:nvSpPr>
        <p:spPr>
          <a:xfrm xmlns:a="http://schemas.openxmlformats.org/drawingml/2006/main">
            <a:off x="552450" y="22860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50 yüz · 50 insan · 50 taşıt</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Her caption için 6 farklı anlatım</a:t>
            </a:r>
          </a:p>
        </p:txBody>
      </p:sp>
      <p:sp>
        <p:nvSpPr>
          <p:cNvPr id="7" name="">
            <a:extLst xmlns:a="http://schemas.openxmlformats.org/drawingml/2006/main">
              <a:ext uri="{FF2B5EF4-FFF2-40B4-BE49-F238E27FC236}">
                <a16:creationId xmlns:a16="http://schemas.microsoft.com/office/drawing/2014/main" id="{EBE1E824-FD44-426D-A139-3FF666AA0855}"/>
              </a:ext>
            </a:extLst>
          </p:cNvPr>
          <p:cNvSpPr>
            <a:spLocks xmlns:a="http://schemas.openxmlformats.org/drawingml/2006/main" noGrp="1"/>
          </p:cNvSpPr>
          <p:nvPr/>
        </p:nvSpPr>
        <p:spPr>
          <a:xfrm xmlns:a="http://schemas.openxmlformats.org/drawingml/2006/main">
            <a:off x="552450" y="3314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A"/>
                </a:solidFill>
                <a:latin typeface="Arial"/>
                <a:ea typeface="Arial"/>
                <a:cs typeface="Arial"/>
              </a:defRPr>
            </a:pPr>
            <a:r>
              <a:rPr sz="2250" b="1">
                <a:solidFill>
                  <a:srgbClr val="007F7A"/>
                </a:solidFill>
                <a:latin typeface="Arial"/>
                <a:ea typeface="Arial"/>
                <a:cs typeface="Arial"/>
              </a:rPr>
              <a:t>1  Metin → metin</a:t>
            </a:r>
          </a:p>
        </p:txBody>
      </p:sp>
      <p:sp>
        <p:nvSpPr>
          <p:cNvPr id="8" name="">
            <a:extLst xmlns:a="http://schemas.openxmlformats.org/drawingml/2006/main">
              <a:ext uri="{FF2B5EF4-FFF2-40B4-BE49-F238E27FC236}">
                <a16:creationId xmlns:a16="http://schemas.microsoft.com/office/drawing/2014/main" id="{A4987027-A8D4-43F1-8BBF-D24CC65FB0B5}"/>
              </a:ext>
            </a:extLst>
          </p:cNvPr>
          <p:cNvSpPr>
            <a:spLocks xmlns:a="http://schemas.openxmlformats.org/drawingml/2006/main" noGrp="1"/>
          </p:cNvSpPr>
          <p:nvPr/>
        </p:nvSpPr>
        <p:spPr>
          <a:xfrm xmlns:a="http://schemas.openxmlformats.org/drawingml/2006/main">
            <a:off x="552450" y="3886200"/>
            <a:ext cx="51911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Yeni tarif, aynı kategorideki</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50 orijinal caption ile karşılaştırıldı.</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Kaynak metin ayırt ediliyor mu?</a:t>
            </a:r>
          </a:p>
        </p:txBody>
      </p:sp>
      <p:sp>
        <p:nvSpPr>
          <p:cNvPr id="9" name="">
            <a:extLst xmlns:a="http://schemas.openxmlformats.org/drawingml/2006/main">
              <a:ext uri="{FF2B5EF4-FFF2-40B4-BE49-F238E27FC236}">
                <a16:creationId xmlns:a16="http://schemas.microsoft.com/office/drawing/2014/main" id="{FC777447-4AC9-4241-9B49-42DAE300C40F}"/>
              </a:ext>
            </a:extLst>
          </p:cNvPr>
          <p:cNvSpPr>
            <a:spLocks xmlns:a="http://schemas.openxmlformats.org/drawingml/2006/main" noGrp="1"/>
          </p:cNvSpPr>
          <p:nvPr/>
        </p:nvSpPr>
        <p:spPr>
          <a:xfrm xmlns:a="http://schemas.openxmlformats.org/drawingml/2006/main">
            <a:off x="6477000" y="3314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A"/>
                </a:solidFill>
                <a:latin typeface="Arial"/>
                <a:ea typeface="Arial"/>
                <a:cs typeface="Arial"/>
              </a:defRPr>
            </a:pPr>
            <a:r>
              <a:rPr sz="2250" b="1">
                <a:solidFill>
                  <a:srgbClr val="007F7A"/>
                </a:solidFill>
                <a:latin typeface="Arial"/>
                <a:ea typeface="Arial"/>
                <a:cs typeface="Arial"/>
              </a:rPr>
              <a:t>2  Metin → görsel</a:t>
            </a:r>
          </a:p>
        </p:txBody>
      </p:sp>
      <p:sp>
        <p:nvSpPr>
          <p:cNvPr id="10" name="">
            <a:extLst xmlns:a="http://schemas.openxmlformats.org/drawingml/2006/main">
              <a:ext uri="{FF2B5EF4-FFF2-40B4-BE49-F238E27FC236}">
                <a16:creationId xmlns:a16="http://schemas.microsoft.com/office/drawing/2014/main" id="{60AC8630-6988-473A-8855-EEAD0E6BF1D8}"/>
              </a:ext>
            </a:extLst>
          </p:cNvPr>
          <p:cNvSpPr>
            <a:spLocks xmlns:a="http://schemas.openxmlformats.org/drawingml/2006/main" noGrp="1"/>
          </p:cNvSpPr>
          <p:nvPr/>
        </p:nvSpPr>
        <p:spPr>
          <a:xfrm xmlns:a="http://schemas.openxmlformats.org/drawingml/2006/main">
            <a:off x="6477000" y="3886200"/>
            <a:ext cx="51911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Tarif ve 50 fotoğraf, aynı modelin</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eşleşen text / vision encoder’larından</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geçirildi; cosine ile sıralandı.</a:t>
            </a:r>
          </a:p>
        </p:txBody>
      </p:sp>
      <p:sp>
        <p:nvSpPr>
          <p:cNvPr id="11" name="">
            <a:extLst xmlns:a="http://schemas.openxmlformats.org/drawingml/2006/main">
              <a:ext uri="{FF2B5EF4-FFF2-40B4-BE49-F238E27FC236}">
                <a16:creationId xmlns:a16="http://schemas.microsoft.com/office/drawing/2014/main" id="{66A7EBB5-EADA-436F-A088-B05686F6C467}"/>
              </a:ext>
            </a:extLst>
          </p:cNvPr>
          <p:cNvSpPr>
            <a:spLocks xmlns:a="http://schemas.openxmlformats.org/drawingml/2006/main" noGrp="1"/>
          </p:cNvSpPr>
          <p:nvPr/>
        </p:nvSpPr>
        <p:spPr>
          <a:xfrm xmlns:a="http://schemas.openxmlformats.org/drawingml/2006/main">
            <a:off x="552450" y="546735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2F40"/>
                </a:solidFill>
                <a:latin typeface="Arial"/>
                <a:ea typeface="Arial"/>
                <a:cs typeface="Arial"/>
              </a:defRPr>
            </a:pPr>
            <a:r>
              <a:rPr sz="2100" b="1">
                <a:solidFill>
                  <a:srgbClr val="172F40"/>
                </a:solidFill>
                <a:latin typeface="Arial"/>
                <a:ea typeface="Arial"/>
                <a:cs typeface="Arial"/>
              </a:rPr>
              <a:t>Başarı: kaynak görsel ilk sırada mı, ilk 5 içinde mi?</a:t>
            </a:r>
          </a:p>
        </p:txBody>
      </p:sp>
    </p:spTree>
    <p:extLst>
      <p:ext uri="{BB962C8B-B14F-4D97-AF65-F5344CB8AC3E}">
        <p14:creationId xmlns:p14="http://schemas.microsoft.com/office/powerpoint/2010/main" val="14160946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B22AA15-8211-40E6-A0BF-151E8D66F1CF}"/>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Bir yüz, farklı anlatımlar</a:t>
            </a:r>
          </a:p>
        </p:txBody>
      </p:sp>
      <p:sp>
        <p:nvSpPr>
          <p:cNvPr id="2" name="">
            <a:extLst xmlns:a="http://schemas.openxmlformats.org/drawingml/2006/main">
              <a:ext uri="{FF2B5EF4-FFF2-40B4-BE49-F238E27FC236}">
                <a16:creationId xmlns:a16="http://schemas.microsoft.com/office/drawing/2014/main" id="{F3DF9DB9-563B-4463-9DD3-1BD731E9A573}"/>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170623.jpg · Caption’lar deneyde kullanılan İngilizce metinlerdir.</a:t>
            </a:r>
          </a:p>
        </p:txBody>
      </p:sp>
      <p:sp>
        <p:nvSpPr>
          <p:cNvPr id="3" name="">
            <a:extLst xmlns:a="http://schemas.openxmlformats.org/drawingml/2006/main">
              <a:ext uri="{FF2B5EF4-FFF2-40B4-BE49-F238E27FC236}">
                <a16:creationId xmlns:a16="http://schemas.microsoft.com/office/drawing/2014/main" id="{04084BCD-148C-410A-A507-735BF856D0F9}"/>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6D8D07A4-B94A-4E24-8C6D-A06B9213469B}"/>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c5a0fcd403f49bf"/>
          <a:stretch xmlns:a="http://schemas.openxmlformats.org/drawingml/2006/main"/>
        </p:blipFill>
        <p:spPr>
          <a:xfrm xmlns:a="http://schemas.openxmlformats.org/drawingml/2006/main">
            <a:off x="552450" y="1809482"/>
            <a:ext cx="2333625" cy="285803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AAB6EA-2C7A-41B2-869C-9A336137B8D0}"/>
              </a:ext>
            </a:extLst>
          </p:cNvPr>
          <p:cNvSpPr>
            <a:spLocks xmlns:a="http://schemas.openxmlformats.org/drawingml/2006/main" noGrp="1"/>
          </p:cNvSpPr>
          <p:nvPr/>
        </p:nvSpPr>
        <p:spPr>
          <a:xfrm xmlns:a="http://schemas.openxmlformats.org/drawingml/2006/main">
            <a:off x="552450" y="4933950"/>
            <a:ext cx="2333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A"/>
                </a:solidFill>
                <a:latin typeface="Arial"/>
                <a:ea typeface="Arial"/>
                <a:cs typeface="Arial"/>
              </a:defRPr>
            </a:pPr>
            <a:r>
              <a:rPr sz="2025" b="1">
                <a:solidFill>
                  <a:srgbClr val="007F7A"/>
                </a:solidFill>
                <a:latin typeface="Arial"/>
                <a:ea typeface="Arial"/>
                <a:cs typeface="Arial"/>
              </a:rPr>
              <a:t>Aynı görsel; değişen metin.</a:t>
            </a:r>
          </a:p>
        </p:txBody>
      </p:sp>
      <p:sp>
        <p:nvSpPr>
          <p:cNvPr id="7" name="">
            <a:extLst xmlns:a="http://schemas.openxmlformats.org/drawingml/2006/main">
              <a:ext uri="{FF2B5EF4-FFF2-40B4-BE49-F238E27FC236}">
                <a16:creationId xmlns:a16="http://schemas.microsoft.com/office/drawing/2014/main" id="{B40F1319-7188-4210-99DD-7C535672F427}"/>
              </a:ext>
            </a:extLst>
          </p:cNvPr>
          <p:cNvSpPr>
            <a:spLocks xmlns:a="http://schemas.openxmlformats.org/drawingml/2006/main" noGrp="1"/>
          </p:cNvSpPr>
          <p:nvPr/>
        </p:nvSpPr>
        <p:spPr>
          <a:xfrm xmlns:a="http://schemas.openxmlformats.org/drawingml/2006/main">
            <a:off x="3333750" y="1724025"/>
            <a:ext cx="819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Orijinalden alıntı  ·  Tam metin konuşmacı notlarında</a:t>
            </a:r>
          </a:p>
        </p:txBody>
      </p:sp>
      <p:sp>
        <p:nvSpPr>
          <p:cNvPr id="8" name="">
            <a:extLst xmlns:a="http://schemas.openxmlformats.org/drawingml/2006/main">
              <a:ext uri="{FF2B5EF4-FFF2-40B4-BE49-F238E27FC236}">
                <a16:creationId xmlns:a16="http://schemas.microsoft.com/office/drawing/2014/main" id="{66AE965B-0BD1-4133-A47F-5BDA763260A0}"/>
              </a:ext>
            </a:extLst>
          </p:cNvPr>
          <p:cNvSpPr>
            <a:spLocks xmlns:a="http://schemas.openxmlformats.org/drawingml/2006/main" noGrp="1"/>
          </p:cNvSpPr>
          <p:nvPr/>
        </p:nvSpPr>
        <p:spPr>
          <a:xfrm xmlns:a="http://schemas.openxmlformats.org/drawingml/2006/main">
            <a:off x="3333750" y="2124075"/>
            <a:ext cx="8191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40"/>
                </a:solidFill>
                <a:latin typeface="Arial"/>
                <a:ea typeface="Arial"/>
                <a:cs typeface="Arial"/>
              </a:defRPr>
            </a:pPr>
            <a:r>
              <a:rPr sz="1725" b="0">
                <a:solidFill>
                  <a:srgbClr val="172F40"/>
                </a:solidFill>
                <a:latin typeface="Arial"/>
                <a:ea typeface="Arial"/>
                <a:cs typeface="Arial"/>
              </a:rPr>
              <a:t>“Male-presenting middle-aged adult, with an oval facial shape, balanced thirds, and average facial depth; jawline with moderate definition, chin rounded and moderate in projection with a slight vertical height.”</a:t>
            </a:r>
          </a:p>
        </p:txBody>
      </p:sp>
      <p:sp>
        <p:nvSpPr>
          <p:cNvPr id="9" name="">
            <a:extLst xmlns:a="http://schemas.openxmlformats.org/drawingml/2006/main">
              <a:ext uri="{FF2B5EF4-FFF2-40B4-BE49-F238E27FC236}">
                <a16:creationId xmlns:a16="http://schemas.microsoft.com/office/drawing/2014/main" id="{8F93E800-8482-4AD4-BADD-5CCB1880C581}"/>
              </a:ext>
            </a:extLst>
          </p:cNvPr>
          <p:cNvSpPr>
            <a:spLocks xmlns:a="http://schemas.openxmlformats.org/drawingml/2006/main" noGrp="1"/>
          </p:cNvSpPr>
          <p:nvPr/>
        </p:nvSpPr>
        <p:spPr>
          <a:xfrm xmlns:a="http://schemas.openxmlformats.org/drawingml/2006/main">
            <a:off x="3333750" y="325755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Kısa</a:t>
            </a:r>
          </a:p>
        </p:txBody>
      </p:sp>
      <p:sp>
        <p:nvSpPr>
          <p:cNvPr id="10" name="">
            <a:extLst xmlns:a="http://schemas.openxmlformats.org/drawingml/2006/main">
              <a:ext uri="{FF2B5EF4-FFF2-40B4-BE49-F238E27FC236}">
                <a16:creationId xmlns:a16="http://schemas.microsoft.com/office/drawing/2014/main" id="{8E10D776-B78F-46DC-B06B-73FEE986643A}"/>
              </a:ext>
            </a:extLst>
          </p:cNvPr>
          <p:cNvSpPr>
            <a:spLocks xmlns:a="http://schemas.openxmlformats.org/drawingml/2006/main" noGrp="1"/>
          </p:cNvSpPr>
          <p:nvPr/>
        </p:nvSpPr>
        <p:spPr>
          <a:xfrm xmlns:a="http://schemas.openxmlformats.org/drawingml/2006/main">
            <a:off x="3333750" y="3609975"/>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Middle-aged male with an oval face, M-shaped hairline, and almond-shaped eyes.</a:t>
            </a:r>
          </a:p>
        </p:txBody>
      </p:sp>
      <p:sp>
        <p:nvSpPr>
          <p:cNvPr id="11" name="">
            <a:extLst xmlns:a="http://schemas.openxmlformats.org/drawingml/2006/main">
              <a:ext uri="{FF2B5EF4-FFF2-40B4-BE49-F238E27FC236}">
                <a16:creationId xmlns:a16="http://schemas.microsoft.com/office/drawing/2014/main" id="{9A0CB483-E16B-47C8-B50A-1927BDD2E5EB}"/>
              </a:ext>
            </a:extLst>
          </p:cNvPr>
          <p:cNvSpPr>
            <a:spLocks xmlns:a="http://schemas.openxmlformats.org/drawingml/2006/main" noGrp="1"/>
          </p:cNvSpPr>
          <p:nvPr/>
        </p:nvSpPr>
        <p:spPr>
          <a:xfrm xmlns:a="http://schemas.openxmlformats.org/drawingml/2006/main">
            <a:off x="3333750" y="422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Dengeli</a:t>
            </a:r>
          </a:p>
        </p:txBody>
      </p:sp>
      <p:sp>
        <p:nvSpPr>
          <p:cNvPr id="12" name="">
            <a:extLst xmlns:a="http://schemas.openxmlformats.org/drawingml/2006/main">
              <a:ext uri="{FF2B5EF4-FFF2-40B4-BE49-F238E27FC236}">
                <a16:creationId xmlns:a16="http://schemas.microsoft.com/office/drawing/2014/main" id="{4294F20E-8DF9-463E-AFA8-77D081247DE8}"/>
              </a:ext>
            </a:extLst>
          </p:cNvPr>
          <p:cNvSpPr>
            <a:spLocks xmlns:a="http://schemas.openxmlformats.org/drawingml/2006/main" noGrp="1"/>
          </p:cNvSpPr>
          <p:nvPr/>
        </p:nvSpPr>
        <p:spPr>
          <a:xfrm xmlns:a="http://schemas.openxmlformats.org/drawingml/2006/main">
            <a:off x="3333750" y="4581525"/>
            <a:ext cx="819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Middle-aged male with an oval face, M-shaped hairline with temporal recession, almond-shaped eyes, and a straight-bridged nose with a rounded tip.</a:t>
            </a:r>
          </a:p>
        </p:txBody>
      </p:sp>
      <p:sp>
        <p:nvSpPr>
          <p:cNvPr id="13" name="">
            <a:extLst xmlns:a="http://schemas.openxmlformats.org/drawingml/2006/main">
              <a:ext uri="{FF2B5EF4-FFF2-40B4-BE49-F238E27FC236}">
                <a16:creationId xmlns:a16="http://schemas.microsoft.com/office/drawing/2014/main" id="{7EA1E3AC-D471-4E70-8DED-042DDDFB0D31}"/>
              </a:ext>
            </a:extLst>
          </p:cNvPr>
          <p:cNvSpPr>
            <a:spLocks xmlns:a="http://schemas.openxmlformats.org/drawingml/2006/main" noGrp="1"/>
          </p:cNvSpPr>
          <p:nvPr/>
        </p:nvSpPr>
        <p:spPr>
          <a:xfrm xmlns:a="http://schemas.openxmlformats.org/drawingml/2006/main">
            <a:off x="3333750" y="5400675"/>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Gündelik anlatım</a:t>
            </a:r>
          </a:p>
        </p:txBody>
      </p:sp>
      <p:sp>
        <p:nvSpPr>
          <p:cNvPr id="14" name="">
            <a:extLst xmlns:a="http://schemas.openxmlformats.org/drawingml/2006/main">
              <a:ext uri="{FF2B5EF4-FFF2-40B4-BE49-F238E27FC236}">
                <a16:creationId xmlns:a16="http://schemas.microsoft.com/office/drawing/2014/main" id="{272BA11C-2981-49E1-85F5-463ED82A8B8C}"/>
              </a:ext>
            </a:extLst>
          </p:cNvPr>
          <p:cNvSpPr>
            <a:spLocks xmlns:a="http://schemas.openxmlformats.org/drawingml/2006/main" noGrp="1"/>
          </p:cNvSpPr>
          <p:nvPr/>
        </p:nvSpPr>
        <p:spPr>
          <a:xfrm xmlns:a="http://schemas.openxmlformats.org/drawingml/2006/main">
            <a:off x="3333750" y="5715000"/>
            <a:ext cx="819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F40"/>
                </a:solidFill>
                <a:latin typeface="Arial"/>
                <a:ea typeface="Arial"/>
                <a:cs typeface="Arial"/>
              </a:defRPr>
            </a:pPr>
            <a:r>
              <a:rPr sz="1575" b="0">
                <a:solidFill>
                  <a:srgbClr val="172F40"/>
                </a:solidFill>
                <a:latin typeface="Arial"/>
                <a:ea typeface="Arial"/>
                <a:cs typeface="Arial"/>
              </a:rPr>
              <a:t>This is a middle-aged man with an oval-shaped face. He has a receding M-shaped hairline, almond-shaped eyes, and medium-thick, softly arched eyebrows. His nose is straight-bridged with a rounded tip, and he has a defined, balanced smile showing his upper teeth.</a:t>
            </a:r>
          </a:p>
        </p:txBody>
      </p:sp>
    </p:spTree>
    <p:extLst>
      <p:ext uri="{BB962C8B-B14F-4D97-AF65-F5344CB8AC3E}">
        <p14:creationId xmlns:p14="http://schemas.microsoft.com/office/powerpoint/2010/main" val="6352229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50BDC7-DB9C-4C82-ABB0-D3A0ED165F22}"/>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Yüksek cosine ≠ doğru eşleşme</a:t>
            </a:r>
          </a:p>
        </p:txBody>
      </p:sp>
      <p:sp>
        <p:nvSpPr>
          <p:cNvPr id="2" name="">
            <a:extLst xmlns:a="http://schemas.openxmlformats.org/drawingml/2006/main">
              <a:ext uri="{FF2B5EF4-FFF2-40B4-BE49-F238E27FC236}">
                <a16:creationId xmlns:a16="http://schemas.microsoft.com/office/drawing/2014/main" id="{5E21D89A-121A-4CC2-B791-B9FA733D7FB8}"/>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Cosine metinlerin yakınlığını gösterir; tek başına başarı ölçüsü değildir.</a:t>
            </a:r>
          </a:p>
        </p:txBody>
      </p:sp>
      <p:sp>
        <p:nvSpPr>
          <p:cNvPr id="3" name="">
            <a:extLst xmlns:a="http://schemas.openxmlformats.org/drawingml/2006/main">
              <a:ext uri="{FF2B5EF4-FFF2-40B4-BE49-F238E27FC236}">
                <a16:creationId xmlns:a16="http://schemas.microsoft.com/office/drawing/2014/main" id="{D0691C1F-F02D-4CB6-B527-418209A438CD}"/>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859B0B03-AA2D-4417-A530-75C1BC0A9D67}"/>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1585F3B5-32DA-446D-A73B-360003249C04}"/>
              </a:ext>
            </a:extLst>
          </p:cNvPr>
          <p:cNvSpPr>
            <a:spLocks xmlns:a="http://schemas.openxmlformats.org/drawingml/2006/main" noGrp="1"/>
          </p:cNvSpPr>
          <p:nvPr/>
        </p:nvSpPr>
        <p:spPr>
          <a:xfrm xmlns:a="http://schemas.openxmlformats.org/drawingml/2006/main">
            <a:off x="552450" y="1781175"/>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Aynı yüz için · CLIP L/14</a:t>
            </a:r>
          </a:p>
        </p:txBody>
      </p:sp>
      <p:graphicFrame>
        <p:nvGraphicFramePr>
          <p:cNvPr id="17" name=""/>
          <p:cNvGraphicFramePr/>
          <p:nvPr/>
        </p:nvGraphicFramePr>
        <p:xfrm>
          <a:off xmlns:a="http://schemas.openxmlformats.org/drawingml/2006/main" x="552450" y="2362200"/>
          <a:ext xmlns:a="http://schemas.openxmlformats.org/drawingml/2006/main" cx="7143750" cy="2247900"/>
        </p:xfrm>
        <a:graphic xmlns:a="http://schemas.openxmlformats.org/drawingml/2006/main">
          <a:graphicData uri="http://schemas.openxmlformats.org/drawingml/2006/table">
            <a:tbl>
              <a:tblPr/>
              <a:tblGrid>
                <a:gridCol w="2095500"/>
                <a:gridCol w="2762250"/>
                <a:gridCol w="2286000"/>
              </a:tblGrid>
              <a:tr h="561975">
                <a:tc>
                  <a:txBody>
                    <a:bodyPr/>
                    <a:lstStyle/>
                    <a:p>
                      <a:r>
                        <a:rPr sz="1725" b="1">
                          <a:solidFill>
                            <a:srgbClr val="FFFFFF"/>
                          </a:solidFill>
                          <a:latin typeface="Arial"/>
                          <a:ea typeface="Arial"/>
                          <a:cs typeface="Arial"/>
                        </a:rPr>
                        <a:t>Tarif</a:t>
                      </a:r>
                    </a:p>
                  </a:txBody>
                  <a:tcPr marL="91440" marR="91440" marT="45720" marB="45720">
                    <a:solidFill>
                      <a:srgbClr val="172F40"/>
                    </a:solidFill>
                  </a:tcPr>
                </a:tc>
                <a:tc>
                  <a:txBody>
                    <a:bodyPr/>
                    <a:lstStyle/>
                    <a:p>
                      <a:r>
                        <a:rPr sz="1725" b="1">
                          <a:solidFill>
                            <a:srgbClr val="FFFFFF"/>
                          </a:solidFill>
                          <a:latin typeface="Arial"/>
                          <a:ea typeface="Arial"/>
                          <a:cs typeface="Arial"/>
                        </a:rPr>
                        <a:t>Orijinalle cosine</a:t>
                      </a:r>
                    </a:p>
                  </a:txBody>
                  <a:tcPr marL="91440" marR="91440" marT="45720" marB="45720">
                    <a:solidFill>
                      <a:srgbClr val="172F40"/>
                    </a:solidFill>
                  </a:tcPr>
                </a:tc>
                <a:tc>
                  <a:txBody>
                    <a:bodyPr/>
                    <a:lstStyle/>
                    <a:p>
                      <a:r>
                        <a:rPr sz="1725" b="1">
                          <a:solidFill>
                            <a:srgbClr val="FFFFFF"/>
                          </a:solidFill>
                          <a:latin typeface="Arial"/>
                          <a:ea typeface="Arial"/>
                          <a:cs typeface="Arial"/>
                        </a:rPr>
                        <a:t>Görsel sırası</a:t>
                      </a:r>
                    </a:p>
                  </a:txBody>
                  <a:tcPr marL="91440" marR="91440" marT="45720" marB="45720">
                    <a:solidFill>
                      <a:srgbClr val="172F40"/>
                    </a:solidFill>
                  </a:tcPr>
                </a:tc>
              </a:tr>
              <a:tr h="561975">
                <a:tc>
                  <a:txBody>
                    <a:bodyPr/>
                    <a:lstStyle/>
                    <a:p>
                      <a:r>
                        <a:rPr sz="1875" b="0">
                          <a:solidFill>
                            <a:srgbClr val="172F40"/>
                          </a:solidFill>
                          <a:latin typeface="Arial"/>
                          <a:ea typeface="Arial"/>
                          <a:cs typeface="Arial"/>
                        </a:rPr>
                        <a:t>Kısa</a:t>
                      </a:r>
                    </a:p>
                  </a:txBody>
                  <a:tcPr marL="91440" marR="91440" marT="45720" marB="45720">
                    <a:solidFill>
                      <a:srgbClr val="F0F6F6"/>
                    </a:solidFill>
                  </a:tcPr>
                </a:tc>
                <a:tc>
                  <a:txBody>
                    <a:bodyPr/>
                    <a:lstStyle/>
                    <a:p>
                      <a:r>
                        <a:rPr sz="1875" b="0">
                          <a:solidFill>
                            <a:srgbClr val="172F40"/>
                          </a:solidFill>
                          <a:latin typeface="Arial"/>
                          <a:ea typeface="Arial"/>
                          <a:cs typeface="Arial"/>
                        </a:rPr>
                        <a:t>0,809</a:t>
                      </a:r>
                    </a:p>
                  </a:txBody>
                  <a:tcPr marL="91440" marR="91440" marT="45720" marB="45720">
                    <a:solidFill>
                      <a:srgbClr val="F0F6F6"/>
                    </a:solidFill>
                  </a:tcPr>
                </a:tc>
                <a:tc>
                  <a:txBody>
                    <a:bodyPr/>
                    <a:lstStyle/>
                    <a:p>
                      <a:r>
                        <a:rPr sz="1875" b="0">
                          <a:solidFill>
                            <a:srgbClr val="172F40"/>
                          </a:solidFill>
                          <a:latin typeface="Arial"/>
                          <a:ea typeface="Arial"/>
                          <a:cs typeface="Arial"/>
                        </a:rPr>
                        <a:t>6</a:t>
                      </a:r>
                    </a:p>
                  </a:txBody>
                  <a:tcPr marL="91440" marR="91440" marT="45720" marB="45720">
                    <a:solidFill>
                      <a:srgbClr val="F0F6F6"/>
                    </a:solidFill>
                  </a:tcPr>
                </a:tc>
              </a:tr>
              <a:tr h="561975">
                <a:tc>
                  <a:txBody>
                    <a:bodyPr/>
                    <a:lstStyle/>
                    <a:p>
                      <a:r>
                        <a:rPr sz="1875" b="0">
                          <a:solidFill>
                            <a:srgbClr val="172F40"/>
                          </a:solidFill>
                          <a:latin typeface="Arial"/>
                          <a:ea typeface="Arial"/>
                          <a:cs typeface="Arial"/>
                        </a:rPr>
                        <a:t>Dengeli</a:t>
                      </a:r>
                    </a:p>
                  </a:txBody>
                  <a:tcPr marL="91440" marR="91440" marT="45720" marB="45720">
                    <a:solidFill>
                      <a:srgbClr val="FFFFFF"/>
                    </a:solidFill>
                  </a:tcPr>
                </a:tc>
                <a:tc>
                  <a:txBody>
                    <a:bodyPr/>
                    <a:lstStyle/>
                    <a:p>
                      <a:r>
                        <a:rPr sz="1875" b="0">
                          <a:solidFill>
                            <a:srgbClr val="172F40"/>
                          </a:solidFill>
                          <a:latin typeface="Arial"/>
                          <a:ea typeface="Arial"/>
                          <a:cs typeface="Arial"/>
                        </a:rPr>
                        <a:t>0,824</a:t>
                      </a:r>
                    </a:p>
                  </a:txBody>
                  <a:tcPr marL="91440" marR="91440" marT="45720" marB="45720">
                    <a:solidFill>
                      <a:srgbClr val="FFFFFF"/>
                    </a:solidFill>
                  </a:tcPr>
                </a:tc>
                <a:tc>
                  <a:txBody>
                    <a:bodyPr/>
                    <a:lstStyle/>
                    <a:p>
                      <a:r>
                        <a:rPr sz="1875" b="0">
                          <a:solidFill>
                            <a:srgbClr val="172F40"/>
                          </a:solidFill>
                          <a:latin typeface="Arial"/>
                          <a:ea typeface="Arial"/>
                          <a:cs typeface="Arial"/>
                        </a:rPr>
                        <a:t>4</a:t>
                      </a:r>
                    </a:p>
                  </a:txBody>
                  <a:tcPr marL="91440" marR="91440" marT="45720" marB="45720">
                    <a:solidFill>
                      <a:srgbClr val="FFFFFF"/>
                    </a:solidFill>
                  </a:tcPr>
                </a:tc>
              </a:tr>
              <a:tr h="561975">
                <a:tc>
                  <a:txBody>
                    <a:bodyPr/>
                    <a:lstStyle/>
                    <a:p>
                      <a:r>
                        <a:rPr sz="1875" b="0">
                          <a:solidFill>
                            <a:srgbClr val="172F40"/>
                          </a:solidFill>
                          <a:latin typeface="Arial"/>
                          <a:ea typeface="Arial"/>
                          <a:cs typeface="Arial"/>
                        </a:rPr>
                        <a:t>Gündelik</a:t>
                      </a:r>
                    </a:p>
                  </a:txBody>
                  <a:tcPr marL="91440" marR="91440" marT="45720" marB="45720">
                    <a:solidFill>
                      <a:srgbClr val="F0F6F6"/>
                    </a:solidFill>
                  </a:tcPr>
                </a:tc>
                <a:tc>
                  <a:txBody>
                    <a:bodyPr/>
                    <a:lstStyle/>
                    <a:p>
                      <a:r>
                        <a:rPr sz="1875" b="0">
                          <a:solidFill>
                            <a:srgbClr val="172F40"/>
                          </a:solidFill>
                          <a:latin typeface="Arial"/>
                          <a:ea typeface="Arial"/>
                          <a:cs typeface="Arial"/>
                        </a:rPr>
                        <a:t>0,774</a:t>
                      </a:r>
                    </a:p>
                  </a:txBody>
                  <a:tcPr marL="91440" marR="91440" marT="45720" marB="45720">
                    <a:solidFill>
                      <a:srgbClr val="F0F6F6"/>
                    </a:solidFill>
                  </a:tcPr>
                </a:tc>
                <a:tc>
                  <a:txBody>
                    <a:bodyPr/>
                    <a:lstStyle/>
                    <a:p>
                      <a:r>
                        <a:rPr sz="1875" b="0">
                          <a:solidFill>
                            <a:srgbClr val="172F40"/>
                          </a:solidFill>
                          <a:latin typeface="Arial"/>
                          <a:ea typeface="Arial"/>
                          <a:cs typeface="Arial"/>
                        </a:rPr>
                        <a:t>6</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98714BE6-F4BB-4EC7-85EC-1A9E8F693F6F}"/>
              </a:ext>
            </a:extLst>
          </p:cNvPr>
          <p:cNvSpPr>
            <a:spLocks xmlns:a="http://schemas.openxmlformats.org/drawingml/2006/main" noGrp="1"/>
          </p:cNvSpPr>
          <p:nvPr/>
        </p:nvSpPr>
        <p:spPr>
          <a:xfrm xmlns:a="http://schemas.openxmlformats.org/drawingml/2006/main">
            <a:off x="552450" y="4819650"/>
            <a:ext cx="723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Uzun orijinal tarifin görsel sırası: 6</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Dengeli tarifte kaynak görsel ilk 5’e giriyor.</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be97ad0f4494c9d"/>
          <a:stretch xmlns:a="http://schemas.openxmlformats.org/drawingml/2006/main"/>
        </p:blipFill>
        <p:spPr>
          <a:xfrm xmlns:a="http://schemas.openxmlformats.org/drawingml/2006/main">
            <a:off x="8840467" y="1800225"/>
            <a:ext cx="1664341" cy="20383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359DBED-6E02-42FE-ADCA-AABFB1C28ED8}"/>
              </a:ext>
            </a:extLst>
          </p:cNvPr>
          <p:cNvSpPr>
            <a:spLocks xmlns:a="http://schemas.openxmlformats.org/drawingml/2006/main" noGrp="1"/>
          </p:cNvSpPr>
          <p:nvPr/>
        </p:nvSpPr>
        <p:spPr>
          <a:xfrm xmlns:a="http://schemas.openxmlformats.org/drawingml/2006/main">
            <a:off x="8210550" y="39814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Başka yüz · 189457.jpg</a:t>
            </a:r>
          </a:p>
        </p:txBody>
      </p:sp>
      <p:sp>
        <p:nvSpPr>
          <p:cNvPr id="10" name="">
            <a:extLst xmlns:a="http://schemas.openxmlformats.org/drawingml/2006/main">
              <a:ext uri="{FF2B5EF4-FFF2-40B4-BE49-F238E27FC236}">
                <a16:creationId xmlns:a16="http://schemas.microsoft.com/office/drawing/2014/main" id="{650C6041-6A6A-4E97-A868-6CE5DF79429C}"/>
              </a:ext>
            </a:extLst>
          </p:cNvPr>
          <p:cNvSpPr>
            <a:spLocks xmlns:a="http://schemas.openxmlformats.org/drawingml/2006/main" noGrp="1"/>
          </p:cNvSpPr>
          <p:nvPr/>
        </p:nvSpPr>
        <p:spPr>
          <a:xfrm xmlns:a="http://schemas.openxmlformats.org/drawingml/2006/main">
            <a:off x="8210550" y="4391025"/>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İki orijinal caption</a:t>
            </a:r>
          </a:p>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arasında cosine: 0,893</a:t>
            </a:r>
          </a:p>
        </p:txBody>
      </p:sp>
      <p:sp>
        <p:nvSpPr>
          <p:cNvPr id="11" name="">
            <a:extLst xmlns:a="http://schemas.openxmlformats.org/drawingml/2006/main">
              <a:ext uri="{FF2B5EF4-FFF2-40B4-BE49-F238E27FC236}">
                <a16:creationId xmlns:a16="http://schemas.microsoft.com/office/drawing/2014/main" id="{428380C8-C30B-4320-B323-9B78E2817C70}"/>
              </a:ext>
            </a:extLst>
          </p:cNvPr>
          <p:cNvSpPr>
            <a:spLocks xmlns:a="http://schemas.openxmlformats.org/drawingml/2006/main" noGrp="1"/>
          </p:cNvSpPr>
          <p:nvPr/>
        </p:nvSpPr>
        <p:spPr>
          <a:xfrm xmlns:a="http://schemas.openxmlformats.org/drawingml/2006/main">
            <a:off x="552450" y="58102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Ortak özellikler ve benzer anlatım yüksek skora katkıda bulunabilir; nedeni ayrıca ayırmadık.</a:t>
            </a:r>
          </a:p>
        </p:txBody>
      </p:sp>
    </p:spTree>
    <p:extLst>
      <p:ext uri="{BB962C8B-B14F-4D97-AF65-F5344CB8AC3E}">
        <p14:creationId xmlns:p14="http://schemas.microsoft.com/office/powerpoint/2010/main" val="17565263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D31808-113E-4170-9597-A343B9C3A055}"/>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Bulgumuz: seçilmiş bilgi, bazı modellerde daha yararlı</a:t>
            </a:r>
          </a:p>
        </p:txBody>
      </p:sp>
      <p:sp>
        <p:nvSpPr>
          <p:cNvPr id="2" name="">
            <a:extLst xmlns:a="http://schemas.openxmlformats.org/drawingml/2006/main">
              <a:ext uri="{FF2B5EF4-FFF2-40B4-BE49-F238E27FC236}">
                <a16:creationId xmlns:a16="http://schemas.microsoft.com/office/drawing/2014/main" id="{9F817DFF-B654-4676-8338-5F302A26B21B}"/>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Doğru görseli ilk sırada bulma · Her satır aynı 25 test örneğini karşılaştırıyor.</a:t>
            </a:r>
          </a:p>
        </p:txBody>
      </p:sp>
      <p:sp>
        <p:nvSpPr>
          <p:cNvPr id="3" name="">
            <a:extLst xmlns:a="http://schemas.openxmlformats.org/drawingml/2006/main">
              <a:ext uri="{FF2B5EF4-FFF2-40B4-BE49-F238E27FC236}">
                <a16:creationId xmlns:a16="http://schemas.microsoft.com/office/drawing/2014/main" id="{85E6D705-9DFD-4F4F-920A-1CFC1122F2AE}"/>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15005923-87DE-48A7-9129-1D593E1AFC3A}"/>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4</a:t>
            </a:r>
          </a:p>
        </p:txBody>
      </p:sp>
      <p:graphicFrame>
        <p:nvGraphicFramePr>
          <p:cNvPr id="13" name=""/>
          <p:cNvGraphicFramePr/>
          <p:nvPr/>
        </p:nvGraphicFramePr>
        <p:xfrm>
          <a:off xmlns:a="http://schemas.openxmlformats.org/drawingml/2006/main" x="552450" y="1781175"/>
          <a:ext xmlns:a="http://schemas.openxmlformats.org/drawingml/2006/main" cx="11087100" cy="2619375"/>
        </p:xfrm>
        <a:graphic xmlns:a="http://schemas.openxmlformats.org/drawingml/2006/main">
          <a:graphicData uri="http://schemas.openxmlformats.org/drawingml/2006/table">
            <a:tbl>
              <a:tblPr/>
              <a:tblGrid>
                <a:gridCol w="5238750"/>
                <a:gridCol w="2924175"/>
                <a:gridCol w="2924175"/>
              </a:tblGrid>
              <a:tr h="523875">
                <a:tc>
                  <a:txBody>
                    <a:bodyPr/>
                    <a:lstStyle/>
                    <a:p>
                      <a:r>
                        <a:rPr sz="1725" b="1">
                          <a:solidFill>
                            <a:srgbClr val="FFFFFF"/>
                          </a:solidFill>
                          <a:latin typeface="Arial"/>
                          <a:ea typeface="Arial"/>
                          <a:cs typeface="Arial"/>
                        </a:rPr>
                        <a:t>Kategori / model</a:t>
                      </a:r>
                    </a:p>
                  </a:txBody>
                  <a:tcPr marL="91440" marR="91440" marT="45720" marB="45720">
                    <a:solidFill>
                      <a:srgbClr val="172F40"/>
                    </a:solidFill>
                  </a:tcPr>
                </a:tc>
                <a:tc>
                  <a:txBody>
                    <a:bodyPr/>
                    <a:lstStyle/>
                    <a:p>
                      <a:r>
                        <a:rPr sz="1725" b="1">
                          <a:solidFill>
                            <a:srgbClr val="FFFFFF"/>
                          </a:solidFill>
                          <a:latin typeface="Arial"/>
                          <a:ea typeface="Arial"/>
                          <a:cs typeface="Arial"/>
                        </a:rPr>
                        <a:t>Orijinal tarif</a:t>
                      </a:r>
                    </a:p>
                  </a:txBody>
                  <a:tcPr marL="91440" marR="91440" marT="45720" marB="45720">
                    <a:solidFill>
                      <a:srgbClr val="172F40"/>
                    </a:solidFill>
                  </a:tcPr>
                </a:tc>
                <a:tc>
                  <a:txBody>
                    <a:bodyPr/>
                    <a:lstStyle/>
                    <a:p>
                      <a:r>
                        <a:rPr sz="1725" b="1">
                          <a:solidFill>
                            <a:srgbClr val="FFFFFF"/>
                          </a:solidFill>
                          <a:latin typeface="Arial"/>
                          <a:ea typeface="Arial"/>
                          <a:cs typeface="Arial"/>
                        </a:rPr>
                        <a:t>Yeni tarif</a:t>
                      </a:r>
                    </a:p>
                  </a:txBody>
                  <a:tcPr marL="91440" marR="91440" marT="45720" marB="45720">
                    <a:solidFill>
                      <a:srgbClr val="172F40"/>
                    </a:solidFill>
                  </a:tcPr>
                </a:tc>
              </a:tr>
              <a:tr h="523875">
                <a:tc>
                  <a:txBody>
                    <a:bodyPr/>
                    <a:lstStyle/>
                    <a:p>
                      <a:r>
                        <a:rPr sz="1875" b="0">
                          <a:solidFill>
                            <a:srgbClr val="172F40"/>
                          </a:solidFill>
                          <a:latin typeface="Arial"/>
                          <a:ea typeface="Arial"/>
                          <a:cs typeface="Arial"/>
                        </a:rPr>
                        <a:t>Yüz · CLIP L/14</a:t>
                      </a:r>
                    </a:p>
                  </a:txBody>
                  <a:tcPr marL="91440" marR="91440" marT="45720" marB="45720">
                    <a:solidFill>
                      <a:srgbClr val="F0F6F6"/>
                    </a:solidFill>
                  </a:tcPr>
                </a:tc>
                <a:tc>
                  <a:txBody>
                    <a:bodyPr/>
                    <a:lstStyle/>
                    <a:p>
                      <a:r>
                        <a:rPr sz="1875" b="0">
                          <a:solidFill>
                            <a:srgbClr val="172F40"/>
                          </a:solidFill>
                          <a:latin typeface="Arial"/>
                          <a:ea typeface="Arial"/>
                          <a:cs typeface="Arial"/>
                        </a:rPr>
                        <a:t>1 / 25</a:t>
                      </a:r>
                    </a:p>
                  </a:txBody>
                  <a:tcPr marL="91440" marR="91440" marT="45720" marB="45720">
                    <a:solidFill>
                      <a:srgbClr val="F0F6F6"/>
                    </a:solidFill>
                  </a:tcPr>
                </a:tc>
                <a:tc>
                  <a:txBody>
                    <a:bodyPr/>
                    <a:lstStyle/>
                    <a:p>
                      <a:r>
                        <a:rPr sz="1875" b="0">
                          <a:solidFill>
                            <a:srgbClr val="172F40"/>
                          </a:solidFill>
                          <a:latin typeface="Arial"/>
                          <a:ea typeface="Arial"/>
                          <a:cs typeface="Arial"/>
                        </a:rPr>
                        <a:t>11 / 25</a:t>
                      </a:r>
                    </a:p>
                  </a:txBody>
                  <a:tcPr marL="91440" marR="91440" marT="45720" marB="45720">
                    <a:solidFill>
                      <a:srgbClr val="F0F6F6"/>
                    </a:solidFill>
                  </a:tcPr>
                </a:tc>
              </a:tr>
              <a:tr h="523875">
                <a:tc>
                  <a:txBody>
                    <a:bodyPr/>
                    <a:lstStyle/>
                    <a:p>
                      <a:r>
                        <a:rPr sz="1875" b="0">
                          <a:solidFill>
                            <a:srgbClr val="172F40"/>
                          </a:solidFill>
                          <a:latin typeface="Arial"/>
                          <a:ea typeface="Arial"/>
                          <a:cs typeface="Arial"/>
                        </a:rPr>
                        <a:t>Yüz · EVA02-CLIP</a:t>
                      </a:r>
                    </a:p>
                  </a:txBody>
                  <a:tcPr marL="91440" marR="91440" marT="45720" marB="45720">
                    <a:solidFill>
                      <a:srgbClr val="FFFFFF"/>
                    </a:solidFill>
                  </a:tcPr>
                </a:tc>
                <a:tc>
                  <a:txBody>
                    <a:bodyPr/>
                    <a:lstStyle/>
                    <a:p>
                      <a:r>
                        <a:rPr sz="1875" b="0">
                          <a:solidFill>
                            <a:srgbClr val="172F40"/>
                          </a:solidFill>
                          <a:latin typeface="Arial"/>
                          <a:ea typeface="Arial"/>
                          <a:cs typeface="Arial"/>
                        </a:rPr>
                        <a:t>2 / 25</a:t>
                      </a:r>
                    </a:p>
                  </a:txBody>
                  <a:tcPr marL="91440" marR="91440" marT="45720" marB="45720">
                    <a:solidFill>
                      <a:srgbClr val="FFFFFF"/>
                    </a:solidFill>
                  </a:tcPr>
                </a:tc>
                <a:tc>
                  <a:txBody>
                    <a:bodyPr/>
                    <a:lstStyle/>
                    <a:p>
                      <a:r>
                        <a:rPr sz="1875" b="0">
                          <a:solidFill>
                            <a:srgbClr val="172F40"/>
                          </a:solidFill>
                          <a:latin typeface="Arial"/>
                          <a:ea typeface="Arial"/>
                          <a:cs typeface="Arial"/>
                        </a:rPr>
                        <a:t>16 / 25</a:t>
                      </a:r>
                    </a:p>
                  </a:txBody>
                  <a:tcPr marL="91440" marR="91440" marT="45720" marB="45720">
                    <a:solidFill>
                      <a:srgbClr val="FFFFFF"/>
                    </a:solidFill>
                  </a:tcPr>
                </a:tc>
              </a:tr>
              <a:tr h="523875">
                <a:tc>
                  <a:txBody>
                    <a:bodyPr/>
                    <a:lstStyle/>
                    <a:p>
                      <a:r>
                        <a:rPr sz="1875" b="0">
                          <a:solidFill>
                            <a:srgbClr val="172F40"/>
                          </a:solidFill>
                          <a:latin typeface="Arial"/>
                          <a:ea typeface="Arial"/>
                          <a:cs typeface="Arial"/>
                        </a:rPr>
                        <a:t>İnsan · SigLIP2</a:t>
                      </a:r>
                    </a:p>
                  </a:txBody>
                  <a:tcPr marL="91440" marR="91440" marT="45720" marB="45720">
                    <a:solidFill>
                      <a:srgbClr val="F0F6F6"/>
                    </a:solidFill>
                  </a:tcPr>
                </a:tc>
                <a:tc>
                  <a:txBody>
                    <a:bodyPr/>
                    <a:lstStyle/>
                    <a:p>
                      <a:r>
                        <a:rPr sz="1875" b="0">
                          <a:solidFill>
                            <a:srgbClr val="172F40"/>
                          </a:solidFill>
                          <a:latin typeface="Arial"/>
                          <a:ea typeface="Arial"/>
                          <a:cs typeface="Arial"/>
                        </a:rPr>
                        <a:t>15 / 25</a:t>
                      </a:r>
                    </a:p>
                  </a:txBody>
                  <a:tcPr marL="91440" marR="91440" marT="45720" marB="45720">
                    <a:solidFill>
                      <a:srgbClr val="F0F6F6"/>
                    </a:solidFill>
                  </a:tcPr>
                </a:tc>
                <a:tc>
                  <a:txBody>
                    <a:bodyPr/>
                    <a:lstStyle/>
                    <a:p>
                      <a:r>
                        <a:rPr sz="1875" b="0">
                          <a:solidFill>
                            <a:srgbClr val="172F40"/>
                          </a:solidFill>
                          <a:latin typeface="Arial"/>
                          <a:ea typeface="Arial"/>
                          <a:cs typeface="Arial"/>
                        </a:rPr>
                        <a:t>15 / 25</a:t>
                      </a:r>
                    </a:p>
                  </a:txBody>
                  <a:tcPr marL="91440" marR="91440" marT="45720" marB="45720">
                    <a:solidFill>
                      <a:srgbClr val="F0F6F6"/>
                    </a:solidFill>
                  </a:tcPr>
                </a:tc>
              </a:tr>
              <a:tr h="523875">
                <a:tc>
                  <a:txBody>
                    <a:bodyPr/>
                    <a:lstStyle/>
                    <a:p>
                      <a:r>
                        <a:rPr sz="1875" b="0">
                          <a:solidFill>
                            <a:srgbClr val="172F40"/>
                          </a:solidFill>
                          <a:latin typeface="Arial"/>
                          <a:ea typeface="Arial"/>
                          <a:cs typeface="Arial"/>
                        </a:rPr>
                        <a:t>Taşıt · SigLIP2</a:t>
                      </a:r>
                    </a:p>
                  </a:txBody>
                  <a:tcPr marL="91440" marR="91440" marT="45720" marB="45720">
                    <a:solidFill>
                      <a:srgbClr val="FFFFFF"/>
                    </a:solidFill>
                  </a:tcPr>
                </a:tc>
                <a:tc>
                  <a:txBody>
                    <a:bodyPr/>
                    <a:lstStyle/>
                    <a:p>
                      <a:r>
                        <a:rPr sz="1875" b="0">
                          <a:solidFill>
                            <a:srgbClr val="172F40"/>
                          </a:solidFill>
                          <a:latin typeface="Arial"/>
                          <a:ea typeface="Arial"/>
                          <a:cs typeface="Arial"/>
                        </a:rPr>
                        <a:t>7 / 25</a:t>
                      </a:r>
                    </a:p>
                  </a:txBody>
                  <a:tcPr marL="91440" marR="91440" marT="45720" marB="45720">
                    <a:solidFill>
                      <a:srgbClr val="FFFFFF"/>
                    </a:solidFill>
                  </a:tcPr>
                </a:tc>
                <a:tc>
                  <a:txBody>
                    <a:bodyPr/>
                    <a:lstStyle/>
                    <a:p>
                      <a:r>
                        <a:rPr sz="1875" b="0">
                          <a:solidFill>
                            <a:srgbClr val="172F40"/>
                          </a:solidFill>
                          <a:latin typeface="Arial"/>
                          <a:ea typeface="Arial"/>
                          <a:cs typeface="Arial"/>
                        </a:rPr>
                        <a:t>14 / 25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ACD84D9-E486-436D-8699-1F50CC7BE51B}"/>
              </a:ext>
            </a:extLst>
          </p:cNvPr>
          <p:cNvSpPr>
            <a:spLocks xmlns:a="http://schemas.openxmlformats.org/drawingml/2006/main" noGrp="1"/>
          </p:cNvSpPr>
          <p:nvPr/>
        </p:nvSpPr>
        <p:spPr>
          <a:xfrm xmlns:a="http://schemas.openxmlformats.org/drawingml/2006/main">
            <a:off x="552450" y="45720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Yüz ve taşıt: gündelik anlatım. İnsan: dengeli tarif.</a:t>
            </a:r>
          </a:p>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Tarif biçimi 25 geliştirme örneğinde seçildi; bu ayrı 25 örnekte ölçüldü.</a:t>
            </a:r>
          </a:p>
        </p:txBody>
      </p:sp>
      <p:sp>
        <p:nvSpPr>
          <p:cNvPr id="7" name="">
            <a:extLst xmlns:a="http://schemas.openxmlformats.org/drawingml/2006/main">
              <a:ext uri="{FF2B5EF4-FFF2-40B4-BE49-F238E27FC236}">
                <a16:creationId xmlns:a16="http://schemas.microsoft.com/office/drawing/2014/main" id="{9F408FDA-119D-4C02-BFB6-92C02C324C59}"/>
              </a:ext>
            </a:extLst>
          </p:cNvPr>
          <p:cNvSpPr>
            <a:spLocks xmlns:a="http://schemas.openxmlformats.org/drawingml/2006/main" noGrp="1"/>
          </p:cNvSpPr>
          <p:nvPr/>
        </p:nvSpPr>
        <p:spPr>
          <a:xfrm xmlns:a="http://schemas.openxmlformats.org/drawingml/2006/main">
            <a:off x="552450" y="5381625"/>
            <a:ext cx="11087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A"/>
                </a:solidFill>
                <a:latin typeface="Arial"/>
                <a:ea typeface="Arial"/>
                <a:cs typeface="Arial"/>
              </a:defRPr>
            </a:pPr>
            <a:r>
              <a:rPr sz="2100" b="1">
                <a:solidFill>
                  <a:srgbClr val="007F7A"/>
                </a:solidFill>
                <a:latin typeface="Arial"/>
                <a:ea typeface="Arial"/>
                <a:cs typeface="Arial"/>
              </a:rPr>
              <a:t>Sonuç: her zaman daha kısa değil, daha yararlı ve ayırt edici bilgi.</a:t>
            </a:r>
          </a:p>
        </p:txBody>
      </p:sp>
      <p:sp>
        <p:nvSpPr>
          <p:cNvPr id="8" name="">
            <a:extLst xmlns:a="http://schemas.openxmlformats.org/drawingml/2006/main">
              <a:ext uri="{FF2B5EF4-FFF2-40B4-BE49-F238E27FC236}">
                <a16:creationId xmlns:a16="http://schemas.microsoft.com/office/drawing/2014/main" id="{40DFFE20-F0FF-4261-B565-8BEE3E287910}"/>
              </a:ext>
            </a:extLst>
          </p:cNvPr>
          <p:cNvSpPr>
            <a:spLocks xmlns:a="http://schemas.openxmlformats.org/drawingml/2006/main" noGrp="1"/>
          </p:cNvSpPr>
          <p:nvPr/>
        </p:nvSpPr>
        <p:spPr>
          <a:xfrm xmlns:a="http://schemas.openxmlformats.org/drawingml/2006/main">
            <a:off x="55245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40"/>
                </a:solidFill>
                <a:latin typeface="Arial"/>
                <a:ea typeface="Arial"/>
                <a:cs typeface="Arial"/>
              </a:defRPr>
            </a:pPr>
            <a:r>
              <a:rPr sz="1725" b="0">
                <a:solidFill>
                  <a:srgbClr val="172F40"/>
                </a:solidFill>
                <a:latin typeface="Arial"/>
                <a:ea typeface="Arial"/>
                <a:cs typeface="Arial"/>
              </a:rPr>
              <a:t>Tek bir profil her yerde üstün değil. Bu test aynı fotoğrafı bulmayı ölçer;</a:t>
            </a:r>
          </a:p>
          <a:p xmlns:a="http://schemas.openxmlformats.org/drawingml/2006/main">
            <a:pPr>
              <a:defRPr sz="1725" b="0">
                <a:solidFill>
                  <a:srgbClr val="172F40"/>
                </a:solidFill>
                <a:latin typeface="Arial"/>
                <a:ea typeface="Arial"/>
                <a:cs typeface="Arial"/>
              </a:defRPr>
            </a:pPr>
            <a:r>
              <a:rPr sz="1725" b="0">
                <a:solidFill>
                  <a:srgbClr val="172F40"/>
                </a:solidFill>
                <a:latin typeface="Arial"/>
                <a:ea typeface="Arial"/>
                <a:cs typeface="Arial"/>
              </a:rPr>
              <a:t>kimlik bazlı, farklı kamera ReID başarısı henüz gösterilmedi.</a:t>
            </a:r>
          </a:p>
        </p:txBody>
      </p:sp>
    </p:spTree>
    <p:extLst>
      <p:ext uri="{BB962C8B-B14F-4D97-AF65-F5344CB8AC3E}">
        <p14:creationId xmlns:p14="http://schemas.microsoft.com/office/powerpoint/2010/main" val="108277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2026-10-06T09:46:36.1190000Z</dcterms:created>
  <dcterms:modified xsi:type="dcterms:W3CDTF">2026-10-06T09:46:36.1190000Z</dcterms:modified>
</coreProperties>
</file>